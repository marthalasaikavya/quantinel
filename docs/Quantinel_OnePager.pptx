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1554480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6000" b="1">
                <a:solidFill>
                  <a:srgbClr val="111111"/>
                </a:solidFill>
                <a:latin typeface="Space Grotesk"/>
              </a:rPr>
              <a:t>Quantinel</a:t>
            </a:r>
            <a:r>
              <a:rPr sz="6000" b="1">
                <a:solidFill>
                  <a:srgbClr val="FF6600"/>
                </a:solidFill>
                <a:latin typeface="Space Grotesk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926080"/>
            <a:ext cx="104241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111111"/>
                </a:solidFill>
                <a:latin typeface="Inter"/>
              </a:rPr>
              <a:t>Institutional Agentic Quantum Trading Decision Engine</a:t>
            </a:r>
          </a:p>
          <a:p>
            <a:pPr algn="l">
              <a:lnSpc>
                <a:spcPct val="130000"/>
              </a:lnSpc>
              <a:spcBef>
                <a:spcPts val="1000"/>
              </a:spcBef>
            </a:pPr>
            <a:r>
              <a:rPr sz="1700" b="0">
                <a:solidFill>
                  <a:srgbClr val="525252"/>
                </a:solidFill>
                <a:latin typeface="Inter"/>
              </a:rPr>
              <a:t>A modular backtesting framework benchmarking </a:t>
            </a:r>
            <a:r>
              <a:rPr sz="1700" b="1">
                <a:solidFill>
                  <a:srgbClr val="CC5200"/>
                </a:solidFill>
                <a:latin typeface="Inter"/>
              </a:rPr>
              <a:t>classical Markowitz</a:t>
            </a:r>
            <a:r>
              <a:rPr sz="1700" b="0">
                <a:solidFill>
                  <a:srgbClr val="525252"/>
                </a:solidFill>
                <a:latin typeface="Inter"/>
              </a:rPr>
              <a:t> against </a:t>
            </a:r>
            <a:r>
              <a:rPr sz="1700" b="1">
                <a:solidFill>
                  <a:srgbClr val="CC5200"/>
                </a:solidFill>
                <a:latin typeface="Inter"/>
              </a:rPr>
              <a:t>quantum-augmented forecasting &amp; optimization</a:t>
            </a:r>
            <a:r>
              <a:rPr sz="1700" b="0">
                <a:solidFill>
                  <a:srgbClr val="525252"/>
                </a:solidFill>
                <a:latin typeface="Inter"/>
              </a:rPr>
              <a:t>, with an AI master agent delivering the final auditable verdict.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5166360"/>
            <a:ext cx="2161641" cy="384048"/>
          </a:xfrm>
          <a:prstGeom prst="roundRect">
            <a:avLst>
              <a:gd name="adj" fmla="val 50000"/>
            </a:avLst>
          </a:prstGeom>
          <a:solidFill>
            <a:srgbClr val="FFF4EB"/>
          </a:solidFill>
          <a:ln w="12700">
            <a:solidFill>
              <a:srgbClr val="FFE0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5166360"/>
            <a:ext cx="2161641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150" b="1">
                <a:solidFill>
                  <a:srgbClr val="CC5200"/>
                </a:solidFill>
                <a:latin typeface="Inter"/>
              </a:rPr>
              <a:t>Baseline vs Challenger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67481" y="5166360"/>
            <a:ext cx="1236268" cy="384048"/>
          </a:xfrm>
          <a:prstGeom prst="roundRect">
            <a:avLst>
              <a:gd name="adj" fmla="val 50000"/>
            </a:avLst>
          </a:prstGeom>
          <a:solidFill>
            <a:srgbClr val="FFF4EB"/>
          </a:solidFill>
          <a:ln w="12700">
            <a:solidFill>
              <a:srgbClr val="FFE0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67481" y="5166360"/>
            <a:ext cx="12362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150" b="1">
                <a:solidFill>
                  <a:srgbClr val="CC5200"/>
                </a:solidFill>
                <a:latin typeface="Inter"/>
              </a:rPr>
              <a:t>NVDA · GOOG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68342" y="5166360"/>
            <a:ext cx="647395" cy="384048"/>
          </a:xfrm>
          <a:prstGeom prst="roundRect">
            <a:avLst>
              <a:gd name="adj" fmla="val 50000"/>
            </a:avLst>
          </a:prstGeom>
          <a:solidFill>
            <a:srgbClr val="FFF4EB"/>
          </a:solidFill>
          <a:ln w="12700">
            <a:solidFill>
              <a:srgbClr val="FFE0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8342" y="5166360"/>
            <a:ext cx="64739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150" b="1">
                <a:solidFill>
                  <a:srgbClr val="CC5200"/>
                </a:solidFill>
                <a:latin typeface="Inter"/>
              </a:rPr>
              <a:t>xpyq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80329" y="5166360"/>
            <a:ext cx="563270" cy="384048"/>
          </a:xfrm>
          <a:prstGeom prst="roundRect">
            <a:avLst>
              <a:gd name="adj" fmla="val 50000"/>
            </a:avLst>
          </a:prstGeom>
          <a:solidFill>
            <a:srgbClr val="FFF4EB"/>
          </a:solidFill>
          <a:ln w="12700">
            <a:solidFill>
              <a:srgbClr val="FFE0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80329" y="5166360"/>
            <a:ext cx="56327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150" b="1">
                <a:solidFill>
                  <a:srgbClr val="CC5200"/>
                </a:solidFill>
                <a:latin typeface="Inter"/>
              </a:rPr>
              <a:t>Exa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08192" y="5166360"/>
            <a:ext cx="1152144" cy="384048"/>
          </a:xfrm>
          <a:prstGeom prst="roundRect">
            <a:avLst>
              <a:gd name="adj" fmla="val 50000"/>
            </a:avLst>
          </a:prstGeom>
          <a:solidFill>
            <a:srgbClr val="FFF4EB"/>
          </a:solidFill>
          <a:ln w="12700">
            <a:solidFill>
              <a:srgbClr val="FFE0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08192" y="5166360"/>
            <a:ext cx="115214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150" b="1">
                <a:solidFill>
                  <a:srgbClr val="CC5200"/>
                </a:solidFill>
                <a:latin typeface="Inter"/>
              </a:rPr>
              <a:t>OpenRouter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66928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spc="60">
                <a:solidFill>
                  <a:srgbClr val="FF6600"/>
                </a:solidFill>
                <a:latin typeface="Space Grotesk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08176" y="493776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1">
                <a:solidFill>
                  <a:srgbClr val="111111"/>
                </a:solidFill>
                <a:latin typeface="Space Grotesk"/>
              </a:rPr>
              <a:t>The Problem &amp; Our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042416"/>
            <a:ext cx="10509199" cy="12801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417320"/>
            <a:ext cx="5074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 spc="120">
                <a:solidFill>
                  <a:srgbClr val="404040"/>
                </a:solidFill>
                <a:latin typeface="Inter"/>
              </a:rPr>
              <a:t>PROBLEM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1874519"/>
            <a:ext cx="5074920" cy="1417320"/>
          </a:xfrm>
          <a:prstGeom prst="roundRect">
            <a:avLst>
              <a:gd name="adj" fmla="val 6000"/>
            </a:avLst>
          </a:prstGeom>
          <a:solidFill>
            <a:srgbClr val="FAFAFA"/>
          </a:solidFill>
          <a:ln w="1524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42416" y="2093976"/>
            <a:ext cx="164592" cy="978408"/>
          </a:xfrm>
          <a:prstGeom prst="roundRect">
            <a:avLst>
              <a:gd name="adj" fmla="val 50000"/>
            </a:avLst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89888" y="2075688"/>
            <a:ext cx="429768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500" b="1">
                <a:solidFill>
                  <a:srgbClr val="111111"/>
                </a:solidFill>
                <a:latin typeface="Inter"/>
              </a:rPr>
              <a:t>Classical Optimization Hits Walls</a:t>
            </a:r>
          </a:p>
          <a:p>
            <a:pPr algn="l">
              <a:lnSpc>
                <a:spcPct val="116000"/>
              </a:lnSpc>
              <a:spcBef>
                <a:spcPts val="500"/>
              </a:spcBef>
            </a:pPr>
            <a:r>
              <a:rPr sz="1200" b="0">
                <a:solidFill>
                  <a:srgbClr val="525252"/>
                </a:solidFill>
                <a:latin typeface="Inter"/>
              </a:rPr>
              <a:t>Markowitz mean-variance is convex but brittle — covariance estimates degrade under regime shifts and fat tails.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3493008"/>
            <a:ext cx="5074920" cy="1417320"/>
          </a:xfrm>
          <a:prstGeom prst="roundRect">
            <a:avLst>
              <a:gd name="adj" fmla="val 6000"/>
            </a:avLst>
          </a:prstGeom>
          <a:solidFill>
            <a:srgbClr val="FAFAFA"/>
          </a:solidFill>
          <a:ln w="1524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42416" y="3712463"/>
            <a:ext cx="164592" cy="978408"/>
          </a:xfrm>
          <a:prstGeom prst="roundRect">
            <a:avLst>
              <a:gd name="adj" fmla="val 50000"/>
            </a:avLst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9888" y="3694176"/>
            <a:ext cx="429768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500" b="1">
                <a:solidFill>
                  <a:srgbClr val="111111"/>
                </a:solidFill>
                <a:latin typeface="Inter"/>
              </a:rPr>
              <a:t>Quantum Claims Are Unverified</a:t>
            </a:r>
          </a:p>
          <a:p>
            <a:pPr algn="l">
              <a:lnSpc>
                <a:spcPct val="116000"/>
              </a:lnSpc>
              <a:spcBef>
                <a:spcPts val="500"/>
              </a:spcBef>
            </a:pPr>
            <a:r>
              <a:rPr sz="1200" b="0">
                <a:solidFill>
                  <a:srgbClr val="525252"/>
                </a:solidFill>
                <a:latin typeface="Inter"/>
              </a:rPr>
              <a:t>Quantum trading strategies are hyped without rigorous, fair comparisons on identical data and risk pipelines.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5111496"/>
            <a:ext cx="5074920" cy="1417320"/>
          </a:xfrm>
          <a:prstGeom prst="roundRect">
            <a:avLst>
              <a:gd name="adj" fmla="val 6000"/>
            </a:avLst>
          </a:prstGeom>
          <a:solidFill>
            <a:srgbClr val="FAFAFA"/>
          </a:solidFill>
          <a:ln w="1524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2416" y="5330952"/>
            <a:ext cx="164592" cy="978408"/>
          </a:xfrm>
          <a:prstGeom prst="roundRect">
            <a:avLst>
              <a:gd name="adj" fmla="val 50000"/>
            </a:avLst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9888" y="5312664"/>
            <a:ext cx="429768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500" b="1">
                <a:solidFill>
                  <a:srgbClr val="111111"/>
                </a:solidFill>
                <a:latin typeface="Inter"/>
              </a:rPr>
              <a:t>No Unified Decision Layer</a:t>
            </a:r>
          </a:p>
          <a:p>
            <a:pPr algn="l">
              <a:lnSpc>
                <a:spcPct val="116000"/>
              </a:lnSpc>
              <a:spcBef>
                <a:spcPts val="500"/>
              </a:spcBef>
            </a:pPr>
            <a:r>
              <a:rPr sz="1200" b="0">
                <a:solidFill>
                  <a:srgbClr val="525252"/>
                </a:solidFill>
                <a:latin typeface="Inter"/>
              </a:rPr>
              <a:t>Trading desks lack a single explainable output fusing quant scores, market news, and recommendations.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7" y="1417320"/>
            <a:ext cx="5074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 spc="120">
                <a:solidFill>
                  <a:srgbClr val="CC5200"/>
                </a:solidFill>
                <a:latin typeface="Inter"/>
              </a:rPr>
              <a:t>SOLUTION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7" y="1874519"/>
            <a:ext cx="5074920" cy="1417320"/>
          </a:xfrm>
          <a:prstGeom prst="roundRect">
            <a:avLst>
              <a:gd name="adj" fmla="val 6000"/>
            </a:avLst>
          </a:prstGeom>
          <a:solidFill>
            <a:srgbClr val="FFF4EB"/>
          </a:solidFill>
          <a:ln w="15240">
            <a:solidFill>
              <a:srgbClr val="FFE0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37375" y="2093976"/>
            <a:ext cx="164592" cy="978408"/>
          </a:xfrm>
          <a:prstGeom prst="roundRect">
            <a:avLst>
              <a:gd name="adj" fmla="val 50000"/>
            </a:avLst>
          </a:prstGeom>
          <a:solidFill>
            <a:srgbClr val="CC5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84847" y="2075688"/>
            <a:ext cx="429768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500" b="1">
                <a:solidFill>
                  <a:srgbClr val="111111"/>
                </a:solidFill>
                <a:latin typeface="Inter"/>
              </a:rPr>
              <a:t>Fair Dual-Engine Benchmark</a:t>
            </a:r>
          </a:p>
          <a:p>
            <a:pPr algn="l">
              <a:lnSpc>
                <a:spcPct val="116000"/>
              </a:lnSpc>
              <a:spcBef>
                <a:spcPts val="500"/>
              </a:spcBef>
            </a:pPr>
            <a:r>
              <a:rPr sz="1200" b="0">
                <a:solidFill>
                  <a:srgbClr val="525252"/>
                </a:solidFill>
                <a:latin typeface="Inter"/>
              </a:rPr>
              <a:t>Baseline &amp; challenger pipelines share the same data, risk, executor, and scorer — isolating forecast &amp; optimizer.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7" y="3493008"/>
            <a:ext cx="5074920" cy="1417320"/>
          </a:xfrm>
          <a:prstGeom prst="roundRect">
            <a:avLst>
              <a:gd name="adj" fmla="val 6000"/>
            </a:avLst>
          </a:prstGeom>
          <a:solidFill>
            <a:srgbClr val="FFF4EB"/>
          </a:solidFill>
          <a:ln w="15240">
            <a:solidFill>
              <a:srgbClr val="FFE0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37375" y="3712463"/>
            <a:ext cx="164592" cy="978408"/>
          </a:xfrm>
          <a:prstGeom prst="roundRect">
            <a:avLst>
              <a:gd name="adj" fmla="val 50000"/>
            </a:avLst>
          </a:prstGeom>
          <a:solidFill>
            <a:srgbClr val="CC5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84847" y="3694176"/>
            <a:ext cx="429768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500" b="1">
                <a:solidFill>
                  <a:srgbClr val="111111"/>
                </a:solidFill>
                <a:latin typeface="Inter"/>
              </a:rPr>
              <a:t>Remote Quantum Compute via xpyq</a:t>
            </a:r>
          </a:p>
          <a:p>
            <a:pPr algn="l">
              <a:lnSpc>
                <a:spcPct val="116000"/>
              </a:lnSpc>
              <a:spcBef>
                <a:spcPts val="500"/>
              </a:spcBef>
            </a:pPr>
            <a:r>
              <a:rPr sz="1200" b="0">
                <a:solidFill>
                  <a:srgbClr val="525252"/>
                </a:solidFill>
                <a:latin typeface="Inter"/>
              </a:rPr>
              <a:t>SVD factor extraction and QUBO-style optimization offloaded to xpyq with automatic fallback on timeout.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7" y="5111496"/>
            <a:ext cx="5074920" cy="1417320"/>
          </a:xfrm>
          <a:prstGeom prst="roundRect">
            <a:avLst>
              <a:gd name="adj" fmla="val 6000"/>
            </a:avLst>
          </a:prstGeom>
          <a:solidFill>
            <a:srgbClr val="FFF4EB"/>
          </a:solidFill>
          <a:ln w="15240">
            <a:solidFill>
              <a:srgbClr val="FFE0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37375" y="5330952"/>
            <a:ext cx="164592" cy="978408"/>
          </a:xfrm>
          <a:prstGeom prst="roundRect">
            <a:avLst>
              <a:gd name="adj" fmla="val 50000"/>
            </a:avLst>
          </a:prstGeom>
          <a:solidFill>
            <a:srgbClr val="CC5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84847" y="5312664"/>
            <a:ext cx="429768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500" b="1">
                <a:solidFill>
                  <a:srgbClr val="111111"/>
                </a:solidFill>
                <a:latin typeface="Inter"/>
              </a:rPr>
              <a:t>AI-Powered Final Verdict</a:t>
            </a:r>
          </a:p>
          <a:p>
            <a:pPr algn="l">
              <a:lnSpc>
                <a:spcPct val="116000"/>
              </a:lnSpc>
              <a:spcBef>
                <a:spcPts val="500"/>
              </a:spcBef>
            </a:pPr>
            <a:r>
              <a:rPr sz="1200" b="0">
                <a:solidFill>
                  <a:srgbClr val="525252"/>
                </a:solidFill>
                <a:latin typeface="Inter"/>
              </a:rPr>
              <a:t>MasterAgent fuses Exa real-time sentiment with quant scores into an auditable, plain-English recommendation.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66928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spc="60">
                <a:solidFill>
                  <a:srgbClr val="FF6600"/>
                </a:solidFill>
                <a:latin typeface="Space Grotesk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08176" y="493776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1">
                <a:solidFill>
                  <a:srgbClr val="111111"/>
                </a:solidFill>
                <a:latin typeface="Space Grotesk"/>
              </a:rP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042416"/>
            <a:ext cx="10509199" cy="12801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495647" y="1335024"/>
            <a:ext cx="3200400" cy="603504"/>
          </a:xfrm>
          <a:prstGeom prst="roundRect">
            <a:avLst>
              <a:gd name="adj" fmla="val 12000"/>
            </a:avLst>
          </a:prstGeom>
          <a:solidFill>
            <a:srgbClr val="111111"/>
          </a:solidFill>
          <a:ln w="1651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68799" y="1426464"/>
            <a:ext cx="3054096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FFFFFF"/>
                </a:solidFill>
                <a:latin typeface="Inter"/>
              </a:rPr>
              <a:t>Portfolio Data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1050" b="0">
                <a:solidFill>
                  <a:srgbClr val="D4D4D4"/>
                </a:solidFill>
                <a:latin typeface="Inter"/>
              </a:rPr>
              <a:t>NVDA / GOOG OHLCV</a:t>
            </a:r>
          </a:p>
        </p:txBody>
      </p:sp>
      <p:sp>
        <p:nvSpPr>
          <p:cNvPr id="7" name="Down Arrow 6"/>
          <p:cNvSpPr/>
          <p:nvPr/>
        </p:nvSpPr>
        <p:spPr>
          <a:xfrm>
            <a:off x="6004407" y="2011680"/>
            <a:ext cx="182880" cy="164592"/>
          </a:xfrm>
          <a:prstGeom prst="downArrow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09847" y="2212848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000" b="1" spc="100">
                <a:solidFill>
                  <a:srgbClr val="CC5200"/>
                </a:solidFill>
                <a:latin typeface="Inter"/>
              </a:rPr>
              <a:t>RUN BOTH PIPELINES IN PARALLEL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2578608"/>
            <a:ext cx="10509199" cy="329184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0704" y="2578608"/>
            <a:ext cx="10070287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 spc="100">
                <a:solidFill>
                  <a:srgbClr val="1A1A1A"/>
                </a:solidFill>
                <a:latin typeface="Inter"/>
              </a:rPr>
              <a:t>NORMAL PIPELINE</a:t>
            </a:r>
            <a:r>
              <a:rPr sz="1000" b="0">
                <a:solidFill>
                  <a:srgbClr val="737373"/>
                </a:solidFill>
                <a:latin typeface="Inter"/>
              </a:rPr>
              <a:t>     classical baseline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2980944"/>
            <a:ext cx="1882383" cy="84124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524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054096"/>
            <a:ext cx="1772655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2000"/>
              </a:lnSpc>
            </a:pPr>
            <a:r>
              <a:rPr sz="1100" b="1">
                <a:solidFill>
                  <a:srgbClr val="1A1A1A"/>
                </a:solidFill>
                <a:latin typeface="Inter"/>
              </a:rPr>
              <a:t>MomentumForecaster</a:t>
            </a:r>
          </a:p>
          <a:p>
            <a:pPr algn="ctr">
              <a:lnSpc>
                <a:spcPct val="102000"/>
              </a:lnSpc>
              <a:spcBef>
                <a:spcPts val="300"/>
              </a:spcBef>
            </a:pPr>
            <a:r>
              <a:rPr sz="900" b="0">
                <a:solidFill>
                  <a:srgbClr val="737373"/>
                </a:solidFill>
                <a:latin typeface="Inter"/>
              </a:rPr>
              <a:t>Recent return signal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769351" y="3328415"/>
            <a:ext cx="182879" cy="146304"/>
          </a:xfrm>
          <a:prstGeom prst="rightArrow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997951" y="2980944"/>
            <a:ext cx="1882383" cy="84124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524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52815" y="3054096"/>
            <a:ext cx="1772655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2000"/>
              </a:lnSpc>
            </a:pPr>
            <a:r>
              <a:rPr sz="1100" b="1">
                <a:solidFill>
                  <a:srgbClr val="1A1A1A"/>
                </a:solidFill>
                <a:latin typeface="Inter"/>
              </a:rPr>
              <a:t>SampleCovRisk</a:t>
            </a:r>
          </a:p>
          <a:p>
            <a:pPr algn="ctr">
              <a:lnSpc>
                <a:spcPct val="102000"/>
              </a:lnSpc>
              <a:spcBef>
                <a:spcPts val="300"/>
              </a:spcBef>
            </a:pPr>
            <a:r>
              <a:rPr sz="900" b="0">
                <a:solidFill>
                  <a:srgbClr val="737373"/>
                </a:solidFill>
                <a:latin typeface="Inter"/>
              </a:rPr>
              <a:t>Cov · VaR · CVaR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926055" y="3328415"/>
            <a:ext cx="182879" cy="146304"/>
          </a:xfrm>
          <a:prstGeom prst="rightArrow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154655" y="2980944"/>
            <a:ext cx="1882383" cy="84124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524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09519" y="3054096"/>
            <a:ext cx="1772655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2000"/>
              </a:lnSpc>
            </a:pPr>
            <a:r>
              <a:rPr sz="1100" b="1">
                <a:solidFill>
                  <a:srgbClr val="1A1A1A"/>
                </a:solidFill>
                <a:latin typeface="Inter"/>
              </a:rPr>
              <a:t>MeanVarianceOptimizer</a:t>
            </a:r>
          </a:p>
          <a:p>
            <a:pPr algn="ctr">
              <a:lnSpc>
                <a:spcPct val="102000"/>
              </a:lnSpc>
              <a:spcBef>
                <a:spcPts val="300"/>
              </a:spcBef>
            </a:pPr>
            <a:r>
              <a:rPr sz="900" b="0">
                <a:solidFill>
                  <a:srgbClr val="737373"/>
                </a:solidFill>
                <a:latin typeface="Inter"/>
              </a:rPr>
              <a:t>Markowitz sizing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082759" y="3328415"/>
            <a:ext cx="182879" cy="146304"/>
          </a:xfrm>
          <a:prstGeom prst="rightArrow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11359" y="2980944"/>
            <a:ext cx="1882383" cy="84124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524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66223" y="3054096"/>
            <a:ext cx="1772655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2000"/>
              </a:lnSpc>
            </a:pPr>
            <a:r>
              <a:rPr sz="1100" b="1">
                <a:solidFill>
                  <a:srgbClr val="1A1A1A"/>
                </a:solidFill>
                <a:latin typeface="Inter"/>
              </a:rPr>
              <a:t>PaperExecutor</a:t>
            </a:r>
          </a:p>
          <a:p>
            <a:pPr algn="ctr">
              <a:lnSpc>
                <a:spcPct val="102000"/>
              </a:lnSpc>
              <a:spcBef>
                <a:spcPts val="300"/>
              </a:spcBef>
            </a:pPr>
            <a:r>
              <a:rPr sz="900" b="0">
                <a:solidFill>
                  <a:srgbClr val="737373"/>
                </a:solidFill>
                <a:latin typeface="Inter"/>
              </a:rPr>
              <a:t>Simulated execution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239463" y="3328415"/>
            <a:ext cx="182879" cy="146304"/>
          </a:xfrm>
          <a:prstGeom prst="rightArrow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468063" y="2980944"/>
            <a:ext cx="1882383" cy="84124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524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22927" y="3054096"/>
            <a:ext cx="1772655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2000"/>
              </a:lnSpc>
            </a:pPr>
            <a:r>
              <a:rPr sz="1100" b="1">
                <a:solidFill>
                  <a:srgbClr val="1A1A1A"/>
                </a:solidFill>
                <a:latin typeface="Inter"/>
              </a:rPr>
              <a:t>BacktestScorer</a:t>
            </a:r>
          </a:p>
          <a:p>
            <a:pPr algn="ctr">
              <a:lnSpc>
                <a:spcPct val="102000"/>
              </a:lnSpc>
              <a:spcBef>
                <a:spcPts val="300"/>
              </a:spcBef>
            </a:pPr>
            <a:r>
              <a:rPr sz="900" b="0">
                <a:solidFill>
                  <a:srgbClr val="737373"/>
                </a:solidFill>
                <a:latin typeface="Inter"/>
              </a:rPr>
              <a:t>Return · Sharpe · IC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1248" y="4023360"/>
            <a:ext cx="10509199" cy="329184"/>
          </a:xfrm>
          <a:prstGeom prst="roundRect">
            <a:avLst>
              <a:gd name="adj" fmla="val 50000"/>
            </a:avLst>
          </a:prstGeom>
          <a:solidFill>
            <a:srgbClr val="FFF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60704" y="4023360"/>
            <a:ext cx="10070287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 spc="100">
                <a:solidFill>
                  <a:srgbClr val="CC5200"/>
                </a:solidFill>
                <a:latin typeface="Inter"/>
              </a:rPr>
              <a:t>QUANTUM PIPELINE</a:t>
            </a:r>
            <a:r>
              <a:rPr sz="1000" b="0">
                <a:solidFill>
                  <a:srgbClr val="CC5200"/>
                </a:solidFill>
                <a:latin typeface="Inter"/>
              </a:rPr>
              <a:t>     xpyq challenger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1248" y="4425696"/>
            <a:ext cx="1882383" cy="841248"/>
          </a:xfrm>
          <a:prstGeom prst="roundRect">
            <a:avLst>
              <a:gd name="adj" fmla="val 13000"/>
            </a:avLst>
          </a:prstGeom>
          <a:solidFill>
            <a:srgbClr val="FFF4EB"/>
          </a:solidFill>
          <a:ln w="15240">
            <a:solidFill>
              <a:srgbClr val="FFE0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6112" y="4498848"/>
            <a:ext cx="1772655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2000"/>
              </a:lnSpc>
            </a:pPr>
            <a:r>
              <a:rPr sz="1100" b="1">
                <a:solidFill>
                  <a:srgbClr val="CC5200"/>
                </a:solidFill>
                <a:latin typeface="Inter"/>
              </a:rPr>
              <a:t>QuantumForecaster</a:t>
            </a:r>
          </a:p>
          <a:p>
            <a:pPr algn="ctr">
              <a:lnSpc>
                <a:spcPct val="102000"/>
              </a:lnSpc>
              <a:spcBef>
                <a:spcPts val="300"/>
              </a:spcBef>
            </a:pPr>
            <a:r>
              <a:rPr sz="900" b="0">
                <a:solidFill>
                  <a:srgbClr val="737373"/>
                </a:solidFill>
                <a:latin typeface="Inter"/>
              </a:rPr>
              <a:t>xpyq SVD factor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2769351" y="4773168"/>
            <a:ext cx="182879" cy="146304"/>
          </a:xfrm>
          <a:prstGeom prst="rightArrow">
            <a:avLst/>
          </a:prstGeom>
          <a:solidFill>
            <a:srgbClr val="FFE0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997951" y="4425696"/>
            <a:ext cx="1882383" cy="841248"/>
          </a:xfrm>
          <a:prstGeom prst="roundRect">
            <a:avLst>
              <a:gd name="adj" fmla="val 13000"/>
            </a:avLst>
          </a:prstGeom>
          <a:solidFill>
            <a:srgbClr val="FFF4EB"/>
          </a:solidFill>
          <a:ln w="15240">
            <a:solidFill>
              <a:srgbClr val="FFE0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52815" y="4498848"/>
            <a:ext cx="1772655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2000"/>
              </a:lnSpc>
            </a:pPr>
            <a:r>
              <a:rPr sz="1100" b="1">
                <a:solidFill>
                  <a:srgbClr val="CC5200"/>
                </a:solidFill>
                <a:latin typeface="Inter"/>
              </a:rPr>
              <a:t>SampleCovRisk</a:t>
            </a:r>
          </a:p>
          <a:p>
            <a:pPr algn="ctr">
              <a:lnSpc>
                <a:spcPct val="102000"/>
              </a:lnSpc>
              <a:spcBef>
                <a:spcPts val="300"/>
              </a:spcBef>
            </a:pPr>
            <a:r>
              <a:rPr sz="900" b="0">
                <a:solidFill>
                  <a:srgbClr val="737373"/>
                </a:solidFill>
                <a:latin typeface="Inter"/>
              </a:rPr>
              <a:t>Cov · VaR · CVaR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4926055" y="4773168"/>
            <a:ext cx="182879" cy="146304"/>
          </a:xfrm>
          <a:prstGeom prst="rightArrow">
            <a:avLst/>
          </a:prstGeom>
          <a:solidFill>
            <a:srgbClr val="FFE0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154655" y="4425696"/>
            <a:ext cx="1882383" cy="841248"/>
          </a:xfrm>
          <a:prstGeom prst="roundRect">
            <a:avLst>
              <a:gd name="adj" fmla="val 13000"/>
            </a:avLst>
          </a:prstGeom>
          <a:solidFill>
            <a:srgbClr val="FFF4EB"/>
          </a:solidFill>
          <a:ln w="15240">
            <a:solidFill>
              <a:srgbClr val="FFE0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209519" y="4498848"/>
            <a:ext cx="1772655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2000"/>
              </a:lnSpc>
            </a:pPr>
            <a:r>
              <a:rPr sz="1100" b="1">
                <a:solidFill>
                  <a:srgbClr val="CC5200"/>
                </a:solidFill>
                <a:latin typeface="Inter"/>
              </a:rPr>
              <a:t>QAOA Optimizer</a:t>
            </a:r>
          </a:p>
          <a:p>
            <a:pPr algn="ctr">
              <a:lnSpc>
                <a:spcPct val="102000"/>
              </a:lnSpc>
              <a:spcBef>
                <a:spcPts val="300"/>
              </a:spcBef>
            </a:pPr>
            <a:r>
              <a:rPr sz="900" b="0">
                <a:solidFill>
                  <a:srgbClr val="737373"/>
                </a:solidFill>
                <a:latin typeface="Inter"/>
              </a:rPr>
              <a:t>xpyq eig / QUBO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7082759" y="4773168"/>
            <a:ext cx="182879" cy="146304"/>
          </a:xfrm>
          <a:prstGeom prst="rightArrow">
            <a:avLst/>
          </a:prstGeom>
          <a:solidFill>
            <a:srgbClr val="FFE0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311359" y="4425696"/>
            <a:ext cx="1882383" cy="841248"/>
          </a:xfrm>
          <a:prstGeom prst="roundRect">
            <a:avLst>
              <a:gd name="adj" fmla="val 13000"/>
            </a:avLst>
          </a:prstGeom>
          <a:solidFill>
            <a:srgbClr val="FFF4EB"/>
          </a:solidFill>
          <a:ln w="15240">
            <a:solidFill>
              <a:srgbClr val="FFE0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66223" y="4498848"/>
            <a:ext cx="1772655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2000"/>
              </a:lnSpc>
            </a:pPr>
            <a:r>
              <a:rPr sz="1100" b="1">
                <a:solidFill>
                  <a:srgbClr val="CC5200"/>
                </a:solidFill>
                <a:latin typeface="Inter"/>
              </a:rPr>
              <a:t>PaperExecutor</a:t>
            </a:r>
          </a:p>
          <a:p>
            <a:pPr algn="ctr">
              <a:lnSpc>
                <a:spcPct val="102000"/>
              </a:lnSpc>
              <a:spcBef>
                <a:spcPts val="300"/>
              </a:spcBef>
            </a:pPr>
            <a:r>
              <a:rPr sz="900" b="0">
                <a:solidFill>
                  <a:srgbClr val="737373"/>
                </a:solidFill>
                <a:latin typeface="Inter"/>
              </a:rPr>
              <a:t>Simulated execution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9239463" y="4773168"/>
            <a:ext cx="182879" cy="146304"/>
          </a:xfrm>
          <a:prstGeom prst="rightArrow">
            <a:avLst/>
          </a:prstGeom>
          <a:solidFill>
            <a:srgbClr val="FFE0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468063" y="4425696"/>
            <a:ext cx="1882383" cy="841248"/>
          </a:xfrm>
          <a:prstGeom prst="roundRect">
            <a:avLst>
              <a:gd name="adj" fmla="val 13000"/>
            </a:avLst>
          </a:prstGeom>
          <a:solidFill>
            <a:srgbClr val="FFF4EB"/>
          </a:solidFill>
          <a:ln w="15240">
            <a:solidFill>
              <a:srgbClr val="FFE0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522927" y="4498848"/>
            <a:ext cx="1772655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2000"/>
              </a:lnSpc>
            </a:pPr>
            <a:r>
              <a:rPr sz="1100" b="1">
                <a:solidFill>
                  <a:srgbClr val="CC5200"/>
                </a:solidFill>
                <a:latin typeface="Inter"/>
              </a:rPr>
              <a:t>BacktestScorer</a:t>
            </a:r>
          </a:p>
          <a:p>
            <a:pPr algn="ctr">
              <a:lnSpc>
                <a:spcPct val="102000"/>
              </a:lnSpc>
              <a:spcBef>
                <a:spcPts val="300"/>
              </a:spcBef>
            </a:pPr>
            <a:r>
              <a:rPr sz="900" b="0">
                <a:solidFill>
                  <a:srgbClr val="737373"/>
                </a:solidFill>
                <a:latin typeface="Inter"/>
              </a:rPr>
              <a:t>Return · Sharpe · IC</a:t>
            </a:r>
          </a:p>
        </p:txBody>
      </p:sp>
      <p:sp>
        <p:nvSpPr>
          <p:cNvPr id="41" name="Down Arrow 40"/>
          <p:cNvSpPr/>
          <p:nvPr/>
        </p:nvSpPr>
        <p:spPr>
          <a:xfrm>
            <a:off x="6004407" y="5413248"/>
            <a:ext cx="182880" cy="164592"/>
          </a:xfrm>
          <a:prstGeom prst="downArrow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352647" y="5614416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950" b="1" spc="100">
                <a:solidFill>
                  <a:srgbClr val="737373"/>
                </a:solidFill>
                <a:latin typeface="Inter"/>
              </a:rPr>
              <a:t>BOTH BRANCHES MERGE INTO THE DECISION LAYER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41248" y="5925312"/>
            <a:ext cx="2407843" cy="786384"/>
          </a:xfrm>
          <a:prstGeom prst="roundRect">
            <a:avLst>
              <a:gd name="adj" fmla="val 12000"/>
            </a:avLst>
          </a:prstGeom>
          <a:solidFill>
            <a:srgbClr val="FAFAFA"/>
          </a:solidFill>
          <a:ln w="1651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6016752"/>
            <a:ext cx="2261539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111111"/>
                </a:solidFill>
                <a:latin typeface="Inter"/>
              </a:rPr>
              <a:t>Comparison Summary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900" b="0">
                <a:solidFill>
                  <a:srgbClr val="525252"/>
                </a:solidFill>
                <a:latin typeface="Inter"/>
              </a:rPr>
              <a:t>Return · Sharpe · accuracy gap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3294811" y="6245352"/>
            <a:ext cx="201168" cy="146304"/>
          </a:xfrm>
          <a:prstGeom prst="rightArrow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3541699" y="5925312"/>
            <a:ext cx="2407843" cy="786384"/>
          </a:xfrm>
          <a:prstGeom prst="roundRect">
            <a:avLst>
              <a:gd name="adj" fmla="val 12000"/>
            </a:avLst>
          </a:prstGeom>
          <a:solidFill>
            <a:srgbClr val="FAFAFA"/>
          </a:solidFill>
          <a:ln w="1651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14851" y="6016752"/>
            <a:ext cx="2261539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111111"/>
                </a:solidFill>
                <a:latin typeface="Inter"/>
              </a:rPr>
              <a:t>Exa Headlines + Sentiment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900" b="0">
                <a:solidFill>
                  <a:srgbClr val="525252"/>
                </a:solidFill>
                <a:latin typeface="Inter"/>
              </a:rPr>
              <a:t>Real-time market intel</a:t>
            </a:r>
          </a:p>
        </p:txBody>
      </p:sp>
      <p:sp>
        <p:nvSpPr>
          <p:cNvPr id="48" name="Right Arrow 47"/>
          <p:cNvSpPr/>
          <p:nvPr/>
        </p:nvSpPr>
        <p:spPr>
          <a:xfrm>
            <a:off x="5995263" y="6245352"/>
            <a:ext cx="201168" cy="146304"/>
          </a:xfrm>
          <a:prstGeom prst="rightArrow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242151" y="5925312"/>
            <a:ext cx="2407843" cy="786384"/>
          </a:xfrm>
          <a:prstGeom prst="roundRect">
            <a:avLst>
              <a:gd name="adj" fmla="val 12000"/>
            </a:avLst>
          </a:prstGeom>
          <a:solidFill>
            <a:srgbClr val="FF6600"/>
          </a:solidFill>
          <a:ln w="1651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15303" y="6016752"/>
            <a:ext cx="2261539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FFFFFF"/>
                </a:solidFill>
                <a:latin typeface="Inter"/>
              </a:rPr>
              <a:t>OpenRouter MasterAgent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900" b="0">
                <a:solidFill>
                  <a:srgbClr val="FFF4EB"/>
                </a:solidFill>
                <a:latin typeface="Inter"/>
              </a:rPr>
              <a:t>LLM reasoning engine</a:t>
            </a:r>
          </a:p>
        </p:txBody>
      </p:sp>
      <p:sp>
        <p:nvSpPr>
          <p:cNvPr id="51" name="Right Arrow 50"/>
          <p:cNvSpPr/>
          <p:nvPr/>
        </p:nvSpPr>
        <p:spPr>
          <a:xfrm>
            <a:off x="8695715" y="6245352"/>
            <a:ext cx="201168" cy="146304"/>
          </a:xfrm>
          <a:prstGeom prst="rightArrow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8942603" y="5925312"/>
            <a:ext cx="2407843" cy="786384"/>
          </a:xfrm>
          <a:prstGeom prst="roundRect">
            <a:avLst>
              <a:gd name="adj" fmla="val 12000"/>
            </a:avLst>
          </a:prstGeom>
          <a:solidFill>
            <a:srgbClr val="111111"/>
          </a:solidFill>
          <a:ln w="1651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15755" y="6016752"/>
            <a:ext cx="2261539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FFFFFF"/>
                </a:solidFill>
                <a:latin typeface="Inter"/>
              </a:rPr>
              <a:t>Plain-English Decision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900" b="0">
                <a:solidFill>
                  <a:srgbClr val="D4D4D4"/>
                </a:solidFill>
                <a:latin typeface="Inter"/>
              </a:rPr>
              <a:t>Winner · Rationale · Trace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66928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spc="60">
                <a:solidFill>
                  <a:srgbClr val="FF6600"/>
                </a:solidFill>
                <a:latin typeface="Space Grotesk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08176" y="493776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1">
                <a:solidFill>
                  <a:srgbClr val="111111"/>
                </a:solidFill>
                <a:latin typeface="Space Grotesk"/>
              </a:rPr>
              <a:t>Key Capabilities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042416"/>
            <a:ext cx="10509199" cy="12801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8" y="1463040"/>
            <a:ext cx="3419856" cy="19385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24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1248" y="1463040"/>
            <a:ext cx="3419856" cy="82296"/>
          </a:xfrm>
          <a:prstGeom prst="roundRect">
            <a:avLst>
              <a:gd name="adj" fmla="val 50000"/>
            </a:avLst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1719072"/>
            <a:ext cx="28712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111111"/>
                </a:solidFill>
                <a:latin typeface="Inter"/>
              </a:rPr>
              <a:t>Quantum SVD Extraction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176272"/>
            <a:ext cx="287121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>
                <a:solidFill>
                  <a:srgbClr val="525252"/>
                </a:solidFill>
                <a:latin typeface="Inter"/>
              </a:rPr>
              <a:t>QuantumForecaster offloads SVD decomposition to xpyq — isolating the strongest hidden market factor for alpha.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15568" y="2944368"/>
            <a:ext cx="1716328" cy="292608"/>
          </a:xfrm>
          <a:prstGeom prst="roundRect">
            <a:avLst>
              <a:gd name="adj" fmla="val 50000"/>
            </a:avLst>
          </a:prstGeom>
          <a:solidFill>
            <a:srgbClr val="FFF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2944368"/>
            <a:ext cx="171632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950" b="1" spc="50">
                <a:solidFill>
                  <a:srgbClr val="CC5200"/>
                </a:solidFill>
                <a:latin typeface="Inter"/>
              </a:rPr>
              <a:t>xpyq Remote Compute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44568" y="1463040"/>
            <a:ext cx="3419856" cy="19385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24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44568" y="1463040"/>
            <a:ext cx="3419856" cy="82296"/>
          </a:xfrm>
          <a:prstGeom prst="roundRect">
            <a:avLst>
              <a:gd name="adj" fmla="val 50000"/>
            </a:avLst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18888" y="1719072"/>
            <a:ext cx="28712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111111"/>
                </a:solidFill>
                <a:latin typeface="Inter"/>
              </a:rPr>
              <a:t>Fair Apples-to-Apples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18888" y="2176272"/>
            <a:ext cx="287121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>
                <a:solidFill>
                  <a:srgbClr val="525252"/>
                </a:solidFill>
                <a:latin typeface="Inter"/>
              </a:rPr>
              <a:t>Risk, execution, and scoring layers are identical across both pipelines. Only forecaster and optimizer differ.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18888" y="2944368"/>
            <a:ext cx="1868119" cy="292608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18888" y="2944368"/>
            <a:ext cx="1868119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950" b="1" spc="50">
                <a:solidFill>
                  <a:srgbClr val="525252"/>
                </a:solidFill>
                <a:latin typeface="Inter"/>
              </a:rPr>
              <a:t>Controlled Experiment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47888" y="1463040"/>
            <a:ext cx="3419856" cy="19385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24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47888" y="1463040"/>
            <a:ext cx="3419856" cy="82296"/>
          </a:xfrm>
          <a:prstGeom prst="roundRect">
            <a:avLst>
              <a:gd name="adj" fmla="val 50000"/>
            </a:avLst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22208" y="1719072"/>
            <a:ext cx="28712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111111"/>
                </a:solidFill>
                <a:latin typeface="Inter"/>
              </a:rPr>
              <a:t>Automatic Fallback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22208" y="2176272"/>
            <a:ext cx="287121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>
                <a:solidFill>
                  <a:srgbClr val="525252"/>
                </a:solidFill>
                <a:latin typeface="Inter"/>
              </a:rPr>
              <a:t>If xpyq times out, the quantum engines fall back to Momentum and DiscreteQUBO — always producing a result.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22208" y="2944368"/>
            <a:ext cx="1488643" cy="292608"/>
          </a:xfrm>
          <a:prstGeom prst="roundRect">
            <a:avLst>
              <a:gd name="adj" fmla="val 50000"/>
            </a:avLst>
          </a:prstGeom>
          <a:solidFill>
            <a:srgbClr val="FFF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22208" y="2944368"/>
            <a:ext cx="1488643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950" b="1" spc="50">
                <a:solidFill>
                  <a:srgbClr val="CC5200"/>
                </a:solidFill>
                <a:latin typeface="Inter"/>
              </a:rPr>
              <a:t>Resilient Design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" y="3675887"/>
            <a:ext cx="3419856" cy="19385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24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1248" y="3675887"/>
            <a:ext cx="3419856" cy="82296"/>
          </a:xfrm>
          <a:prstGeom prst="roundRect">
            <a:avLst>
              <a:gd name="adj" fmla="val 50000"/>
            </a:avLst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5568" y="3931920"/>
            <a:ext cx="28712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111111"/>
                </a:solidFill>
                <a:latin typeface="Inter"/>
              </a:rPr>
              <a:t>Market Intelligence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" y="4389120"/>
            <a:ext cx="287121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>
                <a:solidFill>
                  <a:srgbClr val="525252"/>
                </a:solidFill>
                <a:latin typeface="Inter"/>
              </a:rPr>
              <a:t>Exa scrapes live headlines and extracts sentiment themes, enriching the MasterAgent's comparison.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15568" y="5157216"/>
            <a:ext cx="805586" cy="292608"/>
          </a:xfrm>
          <a:prstGeom prst="roundRect">
            <a:avLst>
              <a:gd name="adj" fmla="val 50000"/>
            </a:avLst>
          </a:prstGeom>
          <a:solidFill>
            <a:srgbClr val="FFF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15568" y="5157216"/>
            <a:ext cx="805586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950" b="1" spc="50">
                <a:solidFill>
                  <a:srgbClr val="CC5200"/>
                </a:solidFill>
                <a:latin typeface="Inter"/>
              </a:rPr>
              <a:t>Exa API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44568" y="3675887"/>
            <a:ext cx="3419856" cy="19385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24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544568" y="3675887"/>
            <a:ext cx="3419856" cy="82296"/>
          </a:xfrm>
          <a:prstGeom prst="roundRect">
            <a:avLst>
              <a:gd name="adj" fmla="val 50000"/>
            </a:avLst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18888" y="3931920"/>
            <a:ext cx="28712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111111"/>
                </a:solidFill>
                <a:latin typeface="Inter"/>
              </a:rPr>
              <a:t>Auditable Decision Trace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18888" y="4389120"/>
            <a:ext cx="287121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>
                <a:solidFill>
                  <a:srgbClr val="525252"/>
                </a:solidFill>
                <a:latin typeface="Inter"/>
              </a:rPr>
              <a:t>Every recommendation outputs return gaps, Sharpe gaps, accuracy, risk breach diffs, and xpyq counts.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818888" y="5157216"/>
            <a:ext cx="1564538" cy="292608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18888" y="5157216"/>
            <a:ext cx="156453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950" b="1" spc="50">
                <a:solidFill>
                  <a:srgbClr val="525252"/>
                </a:solidFill>
                <a:latin typeface="Inter"/>
              </a:rPr>
              <a:t>Full Transparency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47888" y="3675887"/>
            <a:ext cx="3419856" cy="19385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24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247888" y="3675887"/>
            <a:ext cx="3419856" cy="82296"/>
          </a:xfrm>
          <a:prstGeom prst="roundRect">
            <a:avLst>
              <a:gd name="adj" fmla="val 50000"/>
            </a:avLst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22208" y="3931920"/>
            <a:ext cx="28712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111111"/>
                </a:solidFill>
                <a:latin typeface="Inter"/>
              </a:rPr>
              <a:t>LLM Master Agent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22208" y="4389120"/>
            <a:ext cx="287121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>
                <a:solidFill>
                  <a:srgbClr val="525252"/>
                </a:solidFill>
                <a:latin typeface="Inter"/>
              </a:rPr>
              <a:t>MasterAgent fuses sentiment, risk metrics, and comparison into a winner with a plain-English rationale.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522208" y="5157216"/>
            <a:ext cx="1336852" cy="292608"/>
          </a:xfrm>
          <a:prstGeom prst="roundRect">
            <a:avLst>
              <a:gd name="adj" fmla="val 50000"/>
            </a:avLst>
          </a:prstGeom>
          <a:solidFill>
            <a:srgbClr val="FFF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22208" y="5157216"/>
            <a:ext cx="13368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950" b="1" spc="50">
                <a:solidFill>
                  <a:srgbClr val="CC5200"/>
                </a:solidFill>
                <a:latin typeface="Inter"/>
              </a:rPr>
              <a:t>OpenRouter LLM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66928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spc="60">
                <a:solidFill>
                  <a:srgbClr val="FF6600"/>
                </a:solidFill>
                <a:latin typeface="Space Grotesk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08176" y="493776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1">
                <a:solidFill>
                  <a:srgbClr val="111111"/>
                </a:solidFill>
                <a:latin typeface="Space Grotesk"/>
              </a:rPr>
              <a:t>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042416"/>
            <a:ext cx="10509199" cy="12801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8" y="1554480"/>
            <a:ext cx="3419856" cy="338328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1524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33856" y="1847088"/>
            <a:ext cx="731520" cy="365760"/>
          </a:xfrm>
          <a:prstGeom prst="roundRect">
            <a:avLst>
              <a:gd name="adj" fmla="val 50000"/>
            </a:avLst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" y="1847088"/>
            <a:ext cx="731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100" b="1" spc="80">
                <a:solidFill>
                  <a:srgbClr val="FFFFFF"/>
                </a:solidFill>
                <a:latin typeface="Inter"/>
              </a:rPr>
              <a:t>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" y="2377440"/>
            <a:ext cx="28712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000" b="1">
                <a:solidFill>
                  <a:srgbClr val="111111"/>
                </a:solidFill>
                <a:latin typeface="Space Grotesk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" y="2926080"/>
            <a:ext cx="2871216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700"/>
              </a:spcBef>
            </a:pPr>
            <a:r>
              <a:rPr sz="1200" b="1">
                <a:solidFill>
                  <a:srgbClr val="FF6600"/>
                </a:solidFill>
                <a:latin typeface="Inter"/>
              </a:rPr>
              <a:t>—  </a:t>
            </a:r>
            <a:r>
              <a:rPr sz="1250" b="0">
                <a:solidFill>
                  <a:srgbClr val="404040"/>
                </a:solidFill>
                <a:latin typeface="Inter"/>
              </a:rPr>
              <a:t>NVDA / GOOG OHLCV data</a:t>
            </a:r>
          </a:p>
          <a:p>
            <a:pPr algn="l">
              <a:lnSpc>
                <a:spcPct val="110000"/>
              </a:lnSpc>
              <a:spcBef>
                <a:spcPts val="700"/>
              </a:spcBef>
            </a:pPr>
            <a:r>
              <a:rPr sz="1200" b="1">
                <a:solidFill>
                  <a:srgbClr val="FF6600"/>
                </a:solidFill>
                <a:latin typeface="Inter"/>
              </a:rPr>
              <a:t>—  </a:t>
            </a:r>
            <a:r>
              <a:rPr sz="1250" b="0">
                <a:solidFill>
                  <a:srgbClr val="404040"/>
                </a:solidFill>
                <a:latin typeface="Inter"/>
              </a:rPr>
              <a:t>Dual-engine backtester</a:t>
            </a:r>
          </a:p>
          <a:p>
            <a:pPr algn="l">
              <a:lnSpc>
                <a:spcPct val="110000"/>
              </a:lnSpc>
              <a:spcBef>
                <a:spcPts val="700"/>
              </a:spcBef>
            </a:pPr>
            <a:r>
              <a:rPr sz="1200" b="1">
                <a:solidFill>
                  <a:srgbClr val="FF6600"/>
                </a:solidFill>
                <a:latin typeface="Inter"/>
              </a:rPr>
              <a:t>—  </a:t>
            </a:r>
            <a:r>
              <a:rPr sz="1250" b="0">
                <a:solidFill>
                  <a:srgbClr val="404040"/>
                </a:solidFill>
                <a:latin typeface="Inter"/>
              </a:rPr>
              <a:t>xpyq SVD + QUBO optimization</a:t>
            </a:r>
          </a:p>
          <a:p>
            <a:pPr algn="l">
              <a:lnSpc>
                <a:spcPct val="110000"/>
              </a:lnSpc>
              <a:spcBef>
                <a:spcPts val="700"/>
              </a:spcBef>
            </a:pPr>
            <a:r>
              <a:rPr sz="1200" b="1">
                <a:solidFill>
                  <a:srgbClr val="FF6600"/>
                </a:solidFill>
                <a:latin typeface="Inter"/>
              </a:rPr>
              <a:t>—  </a:t>
            </a:r>
            <a:r>
              <a:rPr sz="1250" b="0">
                <a:solidFill>
                  <a:srgbClr val="404040"/>
                </a:solidFill>
                <a:latin typeface="Inter"/>
              </a:rPr>
              <a:t>Exa + OpenRouter AI agent</a:t>
            </a:r>
          </a:p>
          <a:p>
            <a:pPr algn="l">
              <a:lnSpc>
                <a:spcPct val="110000"/>
              </a:lnSpc>
              <a:spcBef>
                <a:spcPts val="700"/>
              </a:spcBef>
            </a:pPr>
            <a:r>
              <a:rPr sz="1200" b="1">
                <a:solidFill>
                  <a:srgbClr val="FF6600"/>
                </a:solidFill>
                <a:latin typeface="Inter"/>
              </a:rPr>
              <a:t>—  </a:t>
            </a:r>
            <a:r>
              <a:rPr sz="1250" b="0">
                <a:solidFill>
                  <a:srgbClr val="404040"/>
                </a:solidFill>
                <a:latin typeface="Inter"/>
              </a:rPr>
              <a:t>Weekly rebalance loop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44568" y="1554480"/>
            <a:ext cx="3419856" cy="338328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1524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837176" y="1847088"/>
            <a:ext cx="822960" cy="365760"/>
          </a:xfrm>
          <a:prstGeom prst="roundRect">
            <a:avLst>
              <a:gd name="adj" fmla="val 50000"/>
            </a:avLst>
          </a:prstGeom>
          <a:solidFill>
            <a:srgbClr val="FFE0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37176" y="1847088"/>
            <a:ext cx="822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100" b="1" spc="80">
                <a:solidFill>
                  <a:srgbClr val="CC5200"/>
                </a:solidFill>
                <a:latin typeface="Inter"/>
              </a:rPr>
              <a:t>NEXT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37176" y="2377440"/>
            <a:ext cx="28712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000" b="1">
                <a:solidFill>
                  <a:srgbClr val="111111"/>
                </a:solidFill>
                <a:latin typeface="Space Grotesk"/>
              </a:rPr>
              <a:t>Expansion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37176" y="2926080"/>
            <a:ext cx="2871216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700"/>
              </a:spcBef>
            </a:pPr>
            <a:r>
              <a:rPr sz="1200" b="1">
                <a:solidFill>
                  <a:srgbClr val="FF6600"/>
                </a:solidFill>
                <a:latin typeface="Inter"/>
              </a:rPr>
              <a:t>—  </a:t>
            </a:r>
            <a:r>
              <a:rPr sz="1250" b="0">
                <a:solidFill>
                  <a:srgbClr val="404040"/>
                </a:solidFill>
                <a:latin typeface="Inter"/>
              </a:rPr>
              <a:t>Live market data feeds</a:t>
            </a:r>
          </a:p>
          <a:p>
            <a:pPr algn="l">
              <a:lnSpc>
                <a:spcPct val="110000"/>
              </a:lnSpc>
              <a:spcBef>
                <a:spcPts val="700"/>
              </a:spcBef>
            </a:pPr>
            <a:r>
              <a:rPr sz="1200" b="1">
                <a:solidFill>
                  <a:srgbClr val="FF6600"/>
                </a:solidFill>
                <a:latin typeface="Inter"/>
              </a:rPr>
              <a:t>—  </a:t>
            </a:r>
            <a:r>
              <a:rPr sz="1250" b="0">
                <a:solidFill>
                  <a:srgbClr val="404040"/>
                </a:solidFill>
                <a:latin typeface="Inter"/>
              </a:rPr>
              <a:t>Multi-asset universe (S&amp;P 500)</a:t>
            </a:r>
          </a:p>
          <a:p>
            <a:pPr algn="l">
              <a:lnSpc>
                <a:spcPct val="110000"/>
              </a:lnSpc>
              <a:spcBef>
                <a:spcPts val="700"/>
              </a:spcBef>
            </a:pPr>
            <a:r>
              <a:rPr sz="1200" b="1">
                <a:solidFill>
                  <a:srgbClr val="FF6600"/>
                </a:solidFill>
                <a:latin typeface="Inter"/>
              </a:rPr>
              <a:t>—  </a:t>
            </a:r>
            <a:r>
              <a:rPr sz="1250" b="0">
                <a:solidFill>
                  <a:srgbClr val="404040"/>
                </a:solidFill>
                <a:latin typeface="Inter"/>
              </a:rPr>
              <a:t>Deeper quantum circuits</a:t>
            </a:r>
          </a:p>
          <a:p>
            <a:pPr algn="l">
              <a:lnSpc>
                <a:spcPct val="110000"/>
              </a:lnSpc>
              <a:spcBef>
                <a:spcPts val="700"/>
              </a:spcBef>
            </a:pPr>
            <a:r>
              <a:rPr sz="1200" b="1">
                <a:solidFill>
                  <a:srgbClr val="FF6600"/>
                </a:solidFill>
                <a:latin typeface="Inter"/>
              </a:rPr>
              <a:t>—  </a:t>
            </a:r>
            <a:r>
              <a:rPr sz="1250" b="0">
                <a:solidFill>
                  <a:srgbClr val="404040"/>
                </a:solidFill>
                <a:latin typeface="Inter"/>
              </a:rPr>
              <a:t>Risk-adjusted alpha tracking</a:t>
            </a:r>
          </a:p>
          <a:p>
            <a:pPr algn="l">
              <a:lnSpc>
                <a:spcPct val="110000"/>
              </a:lnSpc>
              <a:spcBef>
                <a:spcPts val="700"/>
              </a:spcBef>
            </a:pPr>
            <a:r>
              <a:rPr sz="1200" b="1">
                <a:solidFill>
                  <a:srgbClr val="FF6600"/>
                </a:solidFill>
                <a:latin typeface="Inter"/>
              </a:rPr>
              <a:t>—  </a:t>
            </a:r>
            <a:r>
              <a:rPr sz="1250" b="0">
                <a:solidFill>
                  <a:srgbClr val="404040"/>
                </a:solidFill>
                <a:latin typeface="Inter"/>
              </a:rPr>
              <a:t>Portfolio constraint tuning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47888" y="1554480"/>
            <a:ext cx="3419856" cy="338328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1524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540496" y="1847088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40496" y="1847088"/>
            <a:ext cx="10058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100" b="1" spc="80">
                <a:solidFill>
                  <a:srgbClr val="404040"/>
                </a:solidFill>
                <a:latin typeface="Inter"/>
              </a:rPr>
              <a:t>VISION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0496" y="2377440"/>
            <a:ext cx="28712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000" b="1">
                <a:solidFill>
                  <a:srgbClr val="111111"/>
                </a:solidFill>
                <a:latin typeface="Space Grotesk"/>
              </a:rPr>
              <a:t>Scale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0496" y="2926080"/>
            <a:ext cx="2871216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700"/>
              </a:spcBef>
            </a:pPr>
            <a:r>
              <a:rPr sz="1200" b="1">
                <a:solidFill>
                  <a:srgbClr val="FF6600"/>
                </a:solidFill>
                <a:latin typeface="Inter"/>
              </a:rPr>
              <a:t>—  </a:t>
            </a:r>
            <a:r>
              <a:rPr sz="1250" b="0">
                <a:solidFill>
                  <a:srgbClr val="404040"/>
                </a:solidFill>
                <a:latin typeface="Inter"/>
              </a:rPr>
              <a:t>Real hardware QPU execution</a:t>
            </a:r>
          </a:p>
          <a:p>
            <a:pPr algn="l">
              <a:lnSpc>
                <a:spcPct val="110000"/>
              </a:lnSpc>
              <a:spcBef>
                <a:spcPts val="700"/>
              </a:spcBef>
            </a:pPr>
            <a:r>
              <a:rPr sz="1200" b="1">
                <a:solidFill>
                  <a:srgbClr val="FF6600"/>
                </a:solidFill>
                <a:latin typeface="Inter"/>
              </a:rPr>
              <a:t>—  </a:t>
            </a:r>
            <a:r>
              <a:rPr sz="1250" b="0">
                <a:solidFill>
                  <a:srgbClr val="404040"/>
                </a:solidFill>
                <a:latin typeface="Inter"/>
              </a:rPr>
              <a:t>Institutional-grade backtests</a:t>
            </a:r>
          </a:p>
          <a:p>
            <a:pPr algn="l">
              <a:lnSpc>
                <a:spcPct val="110000"/>
              </a:lnSpc>
              <a:spcBef>
                <a:spcPts val="700"/>
              </a:spcBef>
            </a:pPr>
            <a:r>
              <a:rPr sz="1200" b="1">
                <a:solidFill>
                  <a:srgbClr val="FF6600"/>
                </a:solidFill>
                <a:latin typeface="Inter"/>
              </a:rPr>
              <a:t>—  </a:t>
            </a:r>
            <a:r>
              <a:rPr sz="1250" b="0">
                <a:solidFill>
                  <a:srgbClr val="404040"/>
                </a:solidFill>
                <a:latin typeface="Inter"/>
              </a:rPr>
              <a:t>Multi-agent hedge fund layer</a:t>
            </a:r>
          </a:p>
          <a:p>
            <a:pPr algn="l">
              <a:lnSpc>
                <a:spcPct val="110000"/>
              </a:lnSpc>
              <a:spcBef>
                <a:spcPts val="700"/>
              </a:spcBef>
            </a:pPr>
            <a:r>
              <a:rPr sz="1200" b="1">
                <a:solidFill>
                  <a:srgbClr val="FF6600"/>
                </a:solidFill>
                <a:latin typeface="Inter"/>
              </a:rPr>
              <a:t>—  </a:t>
            </a:r>
            <a:r>
              <a:rPr sz="1250" b="0">
                <a:solidFill>
                  <a:srgbClr val="404040"/>
                </a:solidFill>
                <a:latin typeface="Inter"/>
              </a:rPr>
              <a:t>Explainable AI audit trail</a:t>
            </a:r>
          </a:p>
          <a:p>
            <a:pPr algn="l">
              <a:lnSpc>
                <a:spcPct val="110000"/>
              </a:lnSpc>
              <a:spcBef>
                <a:spcPts val="700"/>
              </a:spcBef>
            </a:pPr>
            <a:r>
              <a:rPr sz="1200" b="1">
                <a:solidFill>
                  <a:srgbClr val="FF6600"/>
                </a:solidFill>
                <a:latin typeface="Inter"/>
              </a:rPr>
              <a:t>—  </a:t>
            </a:r>
            <a:r>
              <a:rPr sz="1250" b="0">
                <a:solidFill>
                  <a:srgbClr val="404040"/>
                </a:solidFill>
                <a:latin typeface="Inter"/>
              </a:rPr>
              <a:t>Open research publication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286000"/>
            <a:ext cx="9966960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4000" b="1">
                <a:solidFill>
                  <a:srgbClr val="FFFFFF"/>
                </a:solidFill>
                <a:latin typeface="Space Grotesk"/>
              </a:rPr>
              <a:t>Agentic quantum risk decisions.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611880"/>
            <a:ext cx="88696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700" b="0">
                <a:solidFill>
                  <a:srgbClr val="D4D4D4"/>
                </a:solidFill>
                <a:latin typeface="Inter"/>
              </a:rPr>
              <a:t>Baseline and challenger engines on the same market, risk models, and live news. </a:t>
            </a:r>
            <a:r>
              <a:rPr sz="1700" b="1">
                <a:solidFill>
                  <a:srgbClr val="FF6600"/>
                </a:solidFill>
                <a:latin typeface="Inter"/>
              </a:rPr>
              <a:t>Every number in the open. Every decision auditable.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212080"/>
            <a:ext cx="9966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1">
                <a:solidFill>
                  <a:srgbClr val="FFFFFF"/>
                </a:solidFill>
                <a:latin typeface="Space Grotesk"/>
              </a:rPr>
              <a:t>Quantinel</a:t>
            </a:r>
            <a:r>
              <a:rPr sz="1800" b="1">
                <a:solidFill>
                  <a:srgbClr val="FF6600"/>
                </a:solidFill>
                <a:latin typeface="Space Grotesk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623560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0">
                <a:solidFill>
                  <a:srgbClr val="737373"/>
                </a:solidFill>
                <a:latin typeface="Inter"/>
              </a:rPr>
              <a:t>github.com/MarthalaSaiKavya/Quantinel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